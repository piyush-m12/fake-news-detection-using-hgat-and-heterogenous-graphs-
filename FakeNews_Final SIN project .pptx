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9" r:id="rId9"/>
    <p:sldId id="261" r:id="rId10"/>
    <p:sldId id="262" r:id="rId11"/>
    <p:sldId id="264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262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Evolution-Aware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Heterogeneous Information Networks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32004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786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and Information Networks — Group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Hridey Agarwal  ·  Piyush Mahajan  ·  Ridhima Garg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PolitiFact &amp; GossipCop  |  Models: HGAT + Temporal-HGAT (LSTM)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32688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32688"/>
            <a:ext cx="54864" cy="7498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5212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Fake news spreads faster than corrections — millions are exposed before debunking can occur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28800"/>
            <a:ext cx="54864" cy="7498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83664"/>
            <a:ext cx="5212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Traditional text-only models are vulnerable to convincingly-written misinformation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724912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724912"/>
            <a:ext cx="54864" cy="7498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9776"/>
            <a:ext cx="5212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Existing graph models treat detection as a one-shot task, ignoring temporal dynamics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621024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621024"/>
            <a:ext cx="54864" cy="7498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75888"/>
            <a:ext cx="5212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widely-used benchmark explicitly models credibility evolution over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743200" cy="3931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of Fake News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463040"/>
            <a:ext cx="2468880" cy="868680"/>
          </a:xfrm>
          <a:prstGeom prst="rect">
            <a:avLst/>
          </a:prstGeom>
          <a:solidFill>
            <a:srgbClr val="C47A1A"/>
          </a:solidFill>
          <a:ln w="12700">
            <a:solidFill>
              <a:srgbClr val="C47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15179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spread, few fact-checkers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560320"/>
            <a:ext cx="246888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26151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Viral Peak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exposed, beliefs formed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657600"/>
            <a:ext cx="2468880" cy="868680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37124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Fact-Check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Debunked — but damage done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Research Gaps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4114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509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rely solely on textual content and are easily fooled by convincingly-written fake articles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743200" cy="411480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509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Graph Models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graph models treat detection as a one-shot task, completely ignoring the temporal dynamics of how news spreads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14400"/>
            <a:ext cx="27432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9509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4630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GossipCop has a ~10:1 real-to-fake ratio — high accuracy can conceal very poor fake-class detection performance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0040" y="4251960"/>
            <a:ext cx="8503920" cy="658368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 Question:  How can we model the changing nature of news over time using HINs to improve fake news detection?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1148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509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PolitiFact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Politics &amp; Policy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~900 articles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Balanced (real/fake ≈ 1:1)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URL-domain signal — misinformation clusters around low-credibility publishers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temporal partition using train-set quantiles only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509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GossipCop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Entertainment &amp; Celebrity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~22,000 articles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Highly Imbalanced (real &gt;&gt; fake, ~10:1)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recall on the minority fake class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can mask very poor F1 for fake detection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HGAT Model — Two-Level Attention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509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Node-Level Attention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news article aggregates information from Creator and Subject neighbour nodes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attention vector assigns importance weights per neighbour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LeakyReLU non-linearity applied for numerical stability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separate aggregated vector per neighbour type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509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Schema-Level Attention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weighted combination across neighbour types (Creator vs Subject)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which node type is most discriminative per article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single unified article embedding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MLP classifier: Adam lr=0.005, dropout, 200 epochs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53128" y="2926080"/>
            <a:ext cx="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HGAT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PolitiFact Dataset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3840480" cy="1295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 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0.7896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0.7063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0.8231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0.6185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0.8391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0.7773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0.8900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0.6899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0.8208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0.7654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0.8267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0.7126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0.8679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0.8250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0.9167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0.7500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868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GossipCop Dataset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170432"/>
          <a:ext cx="3840480" cy="1295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 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0.8463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0.6015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0.7986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0.4824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0.7980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1A1A"/>
                          </a:solidFill>
                        </a:rPr>
                        <a:t>0.2846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0.9570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0.1672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0.8498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0.6380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0.7581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0.5508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0.8383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0.5558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0.8175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0.4211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5"/>
          <p:cNvSpPr/>
          <p:nvPr/>
        </p:nvSpPr>
        <p:spPr>
          <a:xfrm>
            <a:off x="320040" y="3200400"/>
            <a:ext cx="411480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PolitiFact Highlights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361188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Accuracy: 86.79% at 80% training 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domains proved a strong political credibility signal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improves consistently with more training data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09160" y="3200400"/>
            <a:ext cx="4114800" cy="1691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4632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GossipCop: F1 Collapse at 40% Split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36118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0.285 despite 95.7% Precision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collapsed to 0.167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mini-batch sampling bias on imbalanced 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Analysis &amp; Mitigation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850392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 Insight: On GossipCop 40% split, Accuracy = 79.8% but F1 = 0.285 — the model predicted 'real' for nearly everything. High accuracy conceals poor fake detection.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27632"/>
            <a:ext cx="2743200" cy="40233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642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Cross-Entropy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084832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Up-weights the fake class proportional to class ratio. Improved recall at 40% split without sacrificing precision.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4114800"/>
            <a:ext cx="2560320" cy="5029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0.285 → 0.451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62763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627632"/>
            <a:ext cx="2743200" cy="402336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642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SMOTE Oversampling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2084832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minority-class samples generated in TF-IDF feature space. Balanced training batches, improved F1 consistency.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37560" y="4114800"/>
            <a:ext cx="2560320" cy="502920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0.285 → 0.492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62763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627632"/>
            <a:ext cx="2743200" cy="402336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642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Full-Graph Training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1928" y="2084832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mini-batch sampling bias (as in original paper). Most effective — yields consistent F1 across all GossipCop splits.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114800"/>
            <a:ext cx="2560320" cy="502920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0.285 → 0.589 ✓ Best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754880"/>
            <a:ext cx="8503920" cy="21031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Temporal-HGAT alone recovers F1 from 0.285 → 0.521 at the 40% GossipCop split, demonstrating temporal context as a strong imbalance mitigation tool.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8269678-D182-8804-F194-9ED83FE7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3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Temporal-HGAT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1325880" cy="14173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7782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TF-IDF, URL domains, keywords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18488" y="11887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841248"/>
            <a:ext cx="1325880" cy="1417320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87782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11704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Construction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17556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News · Creator · Subject nodes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81528" y="11887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841248"/>
            <a:ext cx="1325880" cy="1417320"/>
          </a:xfrm>
          <a:prstGeom prst="rect">
            <a:avLst/>
          </a:prstGeom>
          <a:solidFill>
            <a:srgbClr val="5B2A7B"/>
          </a:solidFill>
          <a:ln w="12700">
            <a:solidFill>
              <a:srgbClr val="5B2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87782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11704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HGAT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7556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Node + Schema Attention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44568" y="11887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841248"/>
            <a:ext cx="1325880" cy="1417320"/>
          </a:xfrm>
          <a:prstGeom prst="rect">
            <a:avLst/>
          </a:prstGeom>
          <a:solidFill>
            <a:srgbClr val="C47A1A"/>
          </a:solidFill>
          <a:ln w="12700">
            <a:solidFill>
              <a:srgbClr val="C47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87782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11704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Temporal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Snapshots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7556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Early · Middle · Late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07608" y="11887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841248"/>
            <a:ext cx="1325880" cy="1417320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87782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6480" y="11704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Sequencing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17556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Temporal sequence → hidden state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70648" y="11887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89520" y="841248"/>
            <a:ext cx="1325880" cy="1417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89520" y="87782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9520" y="11704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Fake/Real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17556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MLP + Dropout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514600"/>
            <a:ext cx="4251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26060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Information Network (HIN)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2999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News Article nodes → TF-IDF (3,000 features)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3467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Creator nodes → URL domain char n-grams (500 feat.)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36941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Subject nodes → Top-3 TF-IDF keywords (100 feat.)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0416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creator → article ('publishes')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389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article → subject ('topic_of')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2514600"/>
            <a:ext cx="4069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92040" y="2606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Partitioning (Leakage-Free)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937760" y="2999232"/>
            <a:ext cx="201168" cy="3200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0368" y="29992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Snapshot (0–33rd %ile)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937760" y="3474720"/>
            <a:ext cx="201168" cy="320040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30368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Snapshot (33–67th %ile)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937760" y="3950208"/>
            <a:ext cx="201168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30368" y="39502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Snapshot (67–100th %ile)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892040" y="4617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E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boundaries computed from TRAIN quantiles only → No data leakage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Novelty — Temporal-HGAT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59354"/>
            <a:ext cx="2743200" cy="2243913"/>
          </a:xfrm>
          <a:prstGeom prst="rect">
            <a:avLst/>
          </a:prstGeom>
          <a:solidFill>
            <a:srgbClr val="112255"/>
          </a:solidFill>
          <a:ln w="1905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2743200" cy="3657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3258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Partitioning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78308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split into 3 snapshots by publication timestamp: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(T1)  ·  Middle (T2)  ·  Late (T3)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boundaries derived from train-set quantiles only to prevent data leakage.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868681"/>
            <a:ext cx="2743200" cy="1980192"/>
          </a:xfrm>
          <a:prstGeom prst="rect">
            <a:avLst/>
          </a:prstGeom>
          <a:solidFill>
            <a:srgbClr val="112255"/>
          </a:solidFill>
          <a:ln w="19050">
            <a:solidFill>
              <a:srgbClr val="0E7E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743200" cy="365760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778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3258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Per-Snapshot HGAT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78308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HGAT is trained on each temporal snapshot, producing 3 distinct embedding vectors per article capturing how the graph context evolves over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1"/>
            <a:ext cx="2743200" cy="1980192"/>
          </a:xfrm>
          <a:prstGeom prst="rect">
            <a:avLst/>
          </a:prstGeom>
          <a:solidFill>
            <a:srgbClr val="112255"/>
          </a:solidFill>
          <a:ln w="19050">
            <a:solidFill>
              <a:srgbClr val="8B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68680"/>
            <a:ext cx="27432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8778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6208" y="13258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Temporal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6208" y="178308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ordered sequence [T1, T2, T3] is fed into an LSTM. The final hidden state is passed to an MLP classification head for fake/real prediction.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Fake news is not static — </a:t>
            </a:r>
            <a:r>
              <a:rPr lang="en-US" sz="900" i="1" dirty="0">
                <a:solidFill>
                  <a:schemeClr val="bg1"/>
                </a:solidFill>
              </a:rPr>
              <a:t>We model how the context around news articles changes across different time phases</a:t>
            </a:r>
            <a:r>
              <a:rPr lang="en-US" sz="1000" dirty="0"/>
              <a:t>.</a:t>
            </a:r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LSTM captures this temporal arc.</a:t>
            </a:r>
            <a:endParaRPr lang="en-US" sz="9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CF5DF49-2766-1A74-F84D-AF57DEB65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387" y="3088369"/>
            <a:ext cx="2359579" cy="148968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E4320E0-460E-9E7A-D51B-9A0014CEDA66}"/>
              </a:ext>
            </a:extLst>
          </p:cNvPr>
          <p:cNvSpPr/>
          <p:nvPr/>
        </p:nvSpPr>
        <p:spPr>
          <a:xfrm>
            <a:off x="452416" y="3276095"/>
            <a:ext cx="3506209" cy="1270625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How Temporal-HGAT Works</a:t>
            </a:r>
          </a:p>
          <a:p>
            <a:pPr algn="ctr"/>
            <a:r>
              <a:rPr lang="en-US" sz="1000" b="1" dirty="0"/>
              <a:t>Step 1: HGAT (per phase)</a:t>
            </a:r>
            <a:endParaRPr lang="en-US" sz="1000" dirty="0"/>
          </a:p>
          <a:p>
            <a:pPr algn="ctr"/>
            <a:r>
              <a:rPr lang="en-US" sz="1000" dirty="0"/>
              <a:t>Learns important creators, topics, and connections </a:t>
            </a:r>
          </a:p>
          <a:p>
            <a:pPr algn="ctr"/>
            <a:r>
              <a:rPr lang="en-US" sz="1000" dirty="0"/>
              <a:t>Creates a representation of each article </a:t>
            </a:r>
          </a:p>
          <a:p>
            <a:pPr algn="ctr"/>
            <a:r>
              <a:rPr lang="en-US" sz="1000" b="1" dirty="0"/>
              <a:t>Step 2: LSTM</a:t>
            </a:r>
            <a:endParaRPr lang="en-US" sz="1000" dirty="0"/>
          </a:p>
          <a:p>
            <a:pPr algn="ctr"/>
            <a:r>
              <a:rPr lang="en-US" sz="1000" dirty="0"/>
              <a:t>Input: Early → Middle → Late </a:t>
            </a:r>
          </a:p>
          <a:p>
            <a:pPr algn="ctr"/>
            <a:r>
              <a:rPr lang="en-US" sz="1000" dirty="0"/>
              <a:t>Learns how patterns change across phases </a:t>
            </a:r>
          </a:p>
          <a:p>
            <a:pPr algn="ctr"/>
            <a:endParaRPr lang="en-US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A08A6F7-A0F7-630F-F4F7-0C33895A7703}"/>
              </a:ext>
            </a:extLst>
          </p:cNvPr>
          <p:cNvSpPr/>
          <p:nvPr/>
        </p:nvSpPr>
        <p:spPr>
          <a:xfrm>
            <a:off x="4142050" y="3603099"/>
            <a:ext cx="575285" cy="46022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F872D8A-CAA7-479A-D780-5934AF2249C3}"/>
              </a:ext>
            </a:extLst>
          </p:cNvPr>
          <p:cNvSpPr/>
          <p:nvPr/>
        </p:nvSpPr>
        <p:spPr>
          <a:xfrm>
            <a:off x="7254644" y="3536487"/>
            <a:ext cx="629785" cy="47839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8535A4-F586-D54C-9D4C-D163DC80786A}"/>
              </a:ext>
            </a:extLst>
          </p:cNvPr>
          <p:cNvSpPr txBox="1"/>
          <p:nvPr/>
        </p:nvSpPr>
        <p:spPr>
          <a:xfrm>
            <a:off x="7932874" y="3233706"/>
            <a:ext cx="12111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Fake news → irregular patterns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Real news → stable patterns 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Temporal-HGAT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PolitiFact — Static vs Temporal HGAT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811017"/>
              </p:ext>
            </p:extLst>
          </p:nvPr>
        </p:nvGraphicFramePr>
        <p:xfrm>
          <a:off x="320040" y="1188720"/>
          <a:ext cx="3977640" cy="166421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28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Train%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Static Acc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Temp Acc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ΔAcc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ΔF1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8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0.7896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0.8104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7E6E"/>
                          </a:solidFill>
                        </a:rPr>
                        <a:t>+0.021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0.706 → 0.731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8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0.8391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0.8567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7E6E"/>
                          </a:solidFill>
                        </a:rPr>
                        <a:t>+0.018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0.777 → 0.803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8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0.8208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0.8423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7E6E"/>
                          </a:solidFill>
                        </a:rPr>
                        <a:t>+0.022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0.765 → 0.789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8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0.8679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0.8850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7E6E"/>
                          </a:solidFill>
                        </a:rPr>
                        <a:t>+0.017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0.825 → 0.852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09160" y="868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GossipCop — Static vs Temporal HGAT</a:t>
            </a:r>
            <a:endParaRPr lang="en-US" sz="12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593571"/>
              </p:ext>
            </p:extLst>
          </p:nvPr>
        </p:nvGraphicFramePr>
        <p:xfrm>
          <a:off x="4709160" y="1188720"/>
          <a:ext cx="3977640" cy="1887539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Train%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Static Acc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Temp Acc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ΔAcc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ΔF1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0.8463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0.8601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7E6E"/>
                          </a:solidFill>
                        </a:rPr>
                        <a:t>+0.014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0.601 → 0.640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9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0.7980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0.8312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7E6E"/>
                          </a:solidFill>
                        </a:rPr>
                        <a:t>+0.033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B1A1A"/>
                          </a:solidFill>
                        </a:rPr>
                        <a:t>0.285 → 0.521 ↑↑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0.8498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0.8674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7E6E"/>
                          </a:solidFill>
                        </a:rPr>
                        <a:t>+0.018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0.638 → 0.689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0.8383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0.8521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E7E6E"/>
                          </a:solidFill>
                        </a:rPr>
                        <a:t>+0.014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0.556 → 0.618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3101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Temporal-HGAT Architecture Flow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274320" y="3657600"/>
            <a:ext cx="1280160" cy="8229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74320" y="3703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Early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HGAT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572768" y="38862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737360" y="3657600"/>
            <a:ext cx="1280160" cy="822960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1737360" y="3703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Middle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HGAT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035808" y="38862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200400" y="3657600"/>
            <a:ext cx="1280160" cy="822960"/>
          </a:xfrm>
          <a:prstGeom prst="rect">
            <a:avLst/>
          </a:prstGeom>
          <a:solidFill>
            <a:srgbClr val="5B2A7B"/>
          </a:solidFill>
          <a:ln w="12700">
            <a:solidFill>
              <a:srgbClr val="5B2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200400" y="3703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HGAT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498848" y="38862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15"/>
          <p:cNvSpPr/>
          <p:nvPr/>
        </p:nvSpPr>
        <p:spPr>
          <a:xfrm>
            <a:off x="4663440" y="3657600"/>
            <a:ext cx="1280160" cy="822960"/>
          </a:xfrm>
          <a:prstGeom prst="rect">
            <a:avLst/>
          </a:prstGeom>
          <a:solidFill>
            <a:srgbClr val="C47A1A"/>
          </a:solidFill>
          <a:ln w="12700">
            <a:solidFill>
              <a:srgbClr val="C47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663440" y="3703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LSTM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Sequencer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961888" y="38862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26480" y="3657600"/>
            <a:ext cx="1280160" cy="822960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126480" y="3703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MLP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Classifier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424928" y="38862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589520" y="3657600"/>
            <a:ext cx="1280160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7589520" y="3703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Fake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20040" y="4626864"/>
            <a:ext cx="8503920" cy="3383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7200" y="4654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Temporal-HGAT consistently outperforms Static HGAT across all splits on both datasets, with the largest F1 recovery on GossipCop (+82.8% relative at 40% split).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54864" cy="18288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Approximate Temporal Modeling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article is not tracked over time. Instead, the dataset is divided into temporal phases — this is time-based grouping, not true evolution tracking.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54864" cy="1828800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058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Heterogeneous Graph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389888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node types: Creators approximated from URL only, Subjects from TF-IDF. The HIN does not include users, comments, or social interactions.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14400"/>
            <a:ext cx="54864" cy="1828800"/>
          </a:xfrm>
          <a:prstGeom prst="rect">
            <a:avLst/>
          </a:prstGeom>
          <a:solidFill>
            <a:srgbClr val="5B2A7B"/>
          </a:solidFill>
          <a:ln w="12700">
            <a:solidFill>
              <a:srgbClr val="5B2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0058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Limited Feature Richness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389888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relies primarily on TF-IDF bag-of-words features with no deep semantic understanding of article content.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54864" cy="1828800"/>
          </a:xfrm>
          <a:prstGeom prst="rect">
            <a:avLst/>
          </a:prstGeom>
          <a:solidFill>
            <a:srgbClr val="C47A1A"/>
          </a:solidFill>
          <a:ln w="12700">
            <a:solidFill>
              <a:srgbClr val="C47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Propagation / User Behavior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01568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sharing, retweet, or engagement data. Missing real news spreading dynamics which are highly informative for fake news detection.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26080"/>
            <a:ext cx="54864" cy="1828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175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Constraints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401568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explicit temporal metadata and repeated time observations forces approximations that limit the quality of the temporal model.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926080"/>
            <a:ext cx="54864" cy="1828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0175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Scalability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401568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separate HGAT models for each temporal snapshot significantly increases computational cost, especially for large graphs.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Extensions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743200" cy="7315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5156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True Temporal Modeling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articles with real timestamps over time. Model same-article updates and engagement timelines rather than dataset-level segmentation.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743200" cy="73152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5156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Heterogeneous Graph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146304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Users, Comments, Publishers, and Social Network nodes. Include edges: user shares article, user comments, article influences another.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14400"/>
            <a:ext cx="2743200" cy="73152"/>
          </a:xfrm>
          <a:prstGeom prst="rect">
            <a:avLst/>
          </a:prstGeom>
          <a:solidFill>
            <a:srgbClr val="5B2A7B"/>
          </a:solidFill>
          <a:ln w="12700">
            <a:solidFill>
              <a:srgbClr val="5B2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05156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Text Embeddings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46304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TF-IDF with BERT or RoBERTa for deep semantic understanding of article language and contextual meaning.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2743200" cy="73152"/>
          </a:xfrm>
          <a:prstGeom prst="rect">
            <a:avLst/>
          </a:prstGeom>
          <a:solidFill>
            <a:srgbClr val="C47A1A"/>
          </a:solidFill>
          <a:ln w="12700">
            <a:solidFill>
              <a:srgbClr val="C47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0632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Propagation Modeling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diffusion and cascade models to capture how fake news spreads through social networks — the viral dynamics often distinguish fake from real.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26080"/>
            <a:ext cx="2743200" cy="73152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0632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End-to-End Temporal HGAT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separate HGAT per snapshot, adopt dynamic graph neural networks for unified, computationally efficient temporal modeling.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926080"/>
            <a:ext cx="27432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0632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Real-Time Detection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 to detect fake news as it spreads in real time. Evaluate on LIAR and FakeNewsNet with live user engagement data.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8503920" cy="713232"/>
          </a:xfrm>
          <a:prstGeom prst="rect">
            <a:avLst/>
          </a:prstGeom>
          <a:solidFill>
            <a:srgbClr val="0D1F4A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68680"/>
            <a:ext cx="54864" cy="71323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HGAT reproduced and validated: up to 86.79% accuracy on PolitiFact and 84.98% on GossipCop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673352"/>
            <a:ext cx="8503920" cy="713232"/>
          </a:xfrm>
          <a:prstGeom prst="rect">
            <a:avLst/>
          </a:prstGeom>
          <a:solidFill>
            <a:srgbClr val="0D1F4A"/>
          </a:solidFill>
          <a:ln w="12700">
            <a:solidFill>
              <a:srgbClr val="0E7E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73352"/>
            <a:ext cx="54864" cy="713232"/>
          </a:xfrm>
          <a:prstGeom prst="rect">
            <a:avLst/>
          </a:prstGeom>
          <a:solidFill>
            <a:srgbClr val="0E7E6E"/>
          </a:solidFill>
          <a:ln w="12700">
            <a:solidFill>
              <a:srgbClr val="0E7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Temporal-HGAT: leakage-free temporal partitioning + per-snapshot HGAT embedders + LSTM sequencer — consistent gains across all splits on both datasets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478024"/>
            <a:ext cx="8503920" cy="713232"/>
          </a:xfrm>
          <a:prstGeom prst="rect">
            <a:avLst/>
          </a:prstGeom>
          <a:solidFill>
            <a:srgbClr val="0D1F4A"/>
          </a:solidFill>
          <a:ln w="12700">
            <a:solidFill>
              <a:srgbClr val="C47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78024"/>
            <a:ext cx="54864" cy="713232"/>
          </a:xfrm>
          <a:prstGeom prst="rect">
            <a:avLst/>
          </a:prstGeom>
          <a:solidFill>
            <a:srgbClr val="C47A1A"/>
          </a:solidFill>
          <a:ln w="12700">
            <a:solidFill>
              <a:srgbClr val="C47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963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 imbalance exposed and addressed: weighted cross-entropy, SMOTE, and full-graph training evaluated — full-graph training most effective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282696"/>
            <a:ext cx="8503920" cy="713232"/>
          </a:xfrm>
          <a:prstGeom prst="rect">
            <a:avLst/>
          </a:prstGeom>
          <a:solidFill>
            <a:srgbClr val="0D1F4A"/>
          </a:solidFill>
          <a:ln w="12700">
            <a:solidFill>
              <a:srgbClr val="5B2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282696"/>
            <a:ext cx="54864" cy="713232"/>
          </a:xfrm>
          <a:prstGeom prst="rect">
            <a:avLst/>
          </a:prstGeom>
          <a:solidFill>
            <a:srgbClr val="5B2A7B"/>
          </a:solidFill>
          <a:ln w="12700">
            <a:solidFill>
              <a:srgbClr val="5B2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signal analysis: Late snapshot dominates PolitiFact (credibility emerges post-sharing); Early snapshot dominates GossipCop (viral spreading is primary signal)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087368"/>
            <a:ext cx="8503920" cy="713232"/>
          </a:xfrm>
          <a:prstGeom prst="rect">
            <a:avLst/>
          </a:prstGeom>
          <a:solidFill>
            <a:srgbClr val="0D1F4A"/>
          </a:solidFill>
          <a:ln w="12700">
            <a:solidFill>
              <a:srgbClr val="1A6B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4087368"/>
            <a:ext cx="54864" cy="713232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0565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Graph-structural features are effective even from lightweight URL-domain proxies, showing promise for scalable fake news 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1563</Words>
  <Application>Microsoft Office PowerPoint</Application>
  <PresentationFormat>On-screen Show (16:9)</PresentationFormat>
  <Paragraphs>310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Evolution-Aware Fake News Detection</dc:title>
  <dc:subject>PptxGenJS Presentation</dc:subject>
  <dc:creator>PptxGenJS</dc:creator>
  <cp:lastModifiedBy>Dr Vibha Mahajan</cp:lastModifiedBy>
  <cp:revision>4</cp:revision>
  <dcterms:created xsi:type="dcterms:W3CDTF">2026-04-26T21:06:27Z</dcterms:created>
  <dcterms:modified xsi:type="dcterms:W3CDTF">2026-04-26T21:37:24Z</dcterms:modified>
</cp:coreProperties>
</file>